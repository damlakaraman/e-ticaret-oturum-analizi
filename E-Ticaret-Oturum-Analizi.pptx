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Atkinson Hyperlegible"/>
      <p:regular r:id="rId201314"/>
    </p:embeddedFont>
    <p:embeddedFont>
      <p:font typeface="Atkinson Hyperlegible Bold"/>
      <p:regular r:id="rId201315"/>
    </p:embeddedFont>
    <p:embeddedFont>
      <p:font typeface="Bree Serif"/>
      <p:regular r:id="rId201316"/>
    </p:embeddedFont>
    <p:embeddedFont>
      <p:font typeface="Courier Prime"/>
      <p:regular r:id="rId201317"/>
    </p:embeddedFont>
    <p:embeddedFont>
      <p:font typeface="Courier Prime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1042789"/>
            <a:ext cx="645659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spc="132" kern="100" dirty="0">
                <a:solidFill>
                  <a:srgbClr val="1F5FAF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PROJE TESLİMİ · V1.0.0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4185" y="1549915"/>
            <a:ext cx="5872412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200" spc="-52" kern="100" dirty="0">
                <a:solidFill>
                  <a:srgbClr val="17324D"/>
                </a:solidFill>
                <a:latin typeface="Bree Serif" pitchFamily="34" charset="0"/>
                <a:ea typeface="Bree Serif" pitchFamily="34" charset="-122"/>
                <a:cs typeface="Bree Serif" pitchFamily="34" charset="-120"/>
              </a:rPr>
              <a:t>E-Ticaret</a:t>
            </a:r>
            <a:endParaRPr lang="en-US" sz="5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5200" spc="-52" kern="100" dirty="0">
                <a:solidFill>
                  <a:srgbClr val="17324D"/>
                </a:solidFill>
                <a:latin typeface="Bree Serif" pitchFamily="34" charset="0"/>
                <a:ea typeface="Bree Serif" pitchFamily="34" charset="-122"/>
                <a:cs typeface="Bree Serif" pitchFamily="34" charset="-120"/>
              </a:rPr>
              <a:t>Oturum Analizi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84185" y="3160018"/>
            <a:ext cx="5872412" cy="1337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243B5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Satın alma sonucunu gezinme davranışlarından tahmin eden ikili sınıflandırma prototipi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84185" y="4725690"/>
            <a:ext cx="5872412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spc="44" kern="100" dirty="0">
                <a:solidFill>
                  <a:srgbClr val="5C6B7A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Hazırlayan:</a:t>
            </a:r>
            <a:pPr algn="l" indent="0" marL="0">
              <a:lnSpc>
                <a:spcPct val="108000"/>
              </a:lnSpc>
              <a:buNone/>
            </a:pPr>
            <a:r>
              <a:rPr lang="en-US" sz="2200" spc="44" kern="100" dirty="0">
                <a:solidFill>
                  <a:srgbClr val="5C6B7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 Damla Karaman</a:t>
            </a:r>
            <a:endParaRPr lang="en-US" sz="2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200" b="1" spc="44" kern="100" dirty="0">
                <a:solidFill>
                  <a:srgbClr val="5C6B7A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Proje:</a:t>
            </a:r>
            <a:pPr algn="l" indent="0" marL="0">
              <a:lnSpc>
                <a:spcPct val="108000"/>
              </a:lnSpc>
              <a:buNone/>
            </a:pPr>
            <a:r>
              <a:rPr lang="en-US" sz="2200" spc="44" kern="100" dirty="0">
                <a:solidFill>
                  <a:srgbClr val="5C6B7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 Sertifikalı Python eğitimi proje teslimi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97873" y="1221184"/>
            <a:ext cx="4109637" cy="441563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" dist="35560" dir="2700000">
              <a:srgbClr val="dce8f5">
                <a:alpha val="10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5676" y="1475184"/>
            <a:ext cx="2793930" cy="2794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51866" y="4548584"/>
            <a:ext cx="3601650" cy="834231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243B53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Oturum davranışı · Satın alma hedefi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306705"/>
            <a:ext cx="11023324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40" kern="100" dirty="0">
                <a:solidFill>
                  <a:srgbClr val="17324D"/>
                </a:solidFill>
                <a:latin typeface="Bree Serif" pitchFamily="34" charset="0"/>
                <a:ea typeface="Bree Serif" pitchFamily="34" charset="-122"/>
                <a:cs typeface="Bree Serif" pitchFamily="34" charset="-120"/>
              </a:rPr>
              <a:t>Problem: Oturum davranışı satın almayı ne kadar açıklıyor?</a:t>
            </a:r>
            <a:endParaRPr lang="en-US" sz="4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4185" y="1528961"/>
          <a:ext cx="11023324" cy="914400"/>
        </p:xfrm>
        <a:graphic>
          <a:graphicData uri="http://schemas.openxmlformats.org/drawingml/2006/table">
            <a:tbl>
              <a:tblPr/>
              <a:tblGrid>
                <a:gridCol w="3123229"/>
                <a:gridCol w="7900095"/>
              </a:tblGrid>
              <a:tr h="6552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600" b="1" dirty="0">
                          <a:solidFill>
                            <a:srgbClr val="17324D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Başlık</a:t>
                      </a:r>
                      <a:endParaRPr lang="en-US" sz="26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600" b="1" dirty="0">
                          <a:solidFill>
                            <a:srgbClr val="17324D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Bulgular</a:t>
                      </a:r>
                      <a:endParaRPr lang="en-US" sz="26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24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Amaç</a:t>
                      </a:r>
                      <a:endParaRPr lang="en-US" sz="24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Revenue hedefiyle satın alma yok (0) / var (1) tahmini yapmak</a:t>
                      </a:r>
                      <a:endParaRPr lang="en-US" sz="24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24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Veri</a:t>
                      </a:r>
                      <a:endParaRPr lang="en-US" sz="24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UCI kaynaklı Online Shoppers Purchasing Intention veri seti; Kaggle üzerinden CSV</a:t>
                      </a:r>
                      <a:endParaRPr lang="en-US" sz="24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24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Temel keşif</a:t>
                      </a:r>
                      <a:endParaRPr lang="en-US" sz="24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Eğitimde satın alma oranı %15,63; yeni ziyaretçilerde %24,09, geri dönenlerde %14,20</a:t>
                      </a:r>
                      <a:endParaRPr lang="en-US" sz="24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0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Davranış sinyali</a:t>
                      </a:r>
                      <a:endParaRPr lang="en-US" sz="24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Satın alanlarda medyan ürün sayfası sayısı 29, almayanlarda 16; bu bulgu nedensellik kanıtı değildir</a:t>
                      </a:r>
                      <a:endParaRPr lang="en-US" sz="24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635011"/>
            <a:ext cx="11023324" cy="514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50" spc="-38" kern="100" dirty="0">
                <a:solidFill>
                  <a:srgbClr val="17324D"/>
                </a:solidFill>
                <a:latin typeface="Bree Serif" pitchFamily="34" charset="0"/>
                <a:ea typeface="Bree Serif" pitchFamily="34" charset="-122"/>
                <a:cs typeface="Bree Serif" pitchFamily="34" charset="-120"/>
              </a:rPr>
              <a:t>Veri temizlendi, dönüşümler Pipeline içine alındı</a:t>
            </a:r>
            <a:endParaRPr lang="en-US" sz="3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4185" y="1322884"/>
          <a:ext cx="11023324" cy="914400"/>
        </p:xfrm>
        <a:graphic>
          <a:graphicData uri="http://schemas.openxmlformats.org/drawingml/2006/table">
            <a:tbl>
              <a:tblPr/>
              <a:tblGrid>
                <a:gridCol w="2425044"/>
                <a:gridCol w="8598280"/>
              </a:tblGrid>
              <a:tr h="907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5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Başlangıç</a:t>
                      </a:r>
                      <a:endParaRPr lang="en-US" sz="245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12.330 kayıt, 18 sütun; eksik, negatif veya sonsuz sayısal değer yok.</a:t>
                      </a:r>
                      <a:endParaRPr lang="en-US" sz="225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7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5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Temizleme</a:t>
                      </a:r>
                      <a:endParaRPr lang="en-US" sz="245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125 tam tekrar tekilleştirildi; 12.205 kayıt korundu; ham veri ayrıca saklandı.</a:t>
                      </a:r>
                      <a:endParaRPr lang="en-US" sz="225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43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5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Bölme</a:t>
                      </a:r>
                      <a:endParaRPr lang="en-US" sz="245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Stratify ve random_state=42 ile 9.764 eğitim / 2.441 test kaydı.</a:t>
                      </a:r>
                      <a:endParaRPr lang="en-US" sz="225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20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5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Ön işleme</a:t>
                      </a:r>
                      <a:endParaRPr lang="en-US" sz="245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Revenue ayrıldı; PageValues ihtiyatlı biçimde dışarıda bırakıldı; 7 kategorik özellik one-hot, 9 sayısal özellik doğrudan Pipeline'a alındı.</a:t>
                      </a:r>
                      <a:endParaRPr lang="en-US" sz="225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7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5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Model</a:t>
                      </a:r>
                      <a:endParaRPr lang="en-US" sz="245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Açıklanabilir ve doğrusal olmayan ilişkileri işleyebilen Karar Ağacı; 5 katlı tabakalı doğrulama, 12 ayar birleşimi ve F1 karşılaştırması.</a:t>
                      </a:r>
                      <a:endParaRPr lang="en-US" sz="225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35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5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Seçilen ayarlar</a:t>
                      </a:r>
                      <a:endParaRPr lang="en-US" sz="245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max_depth=8</a:t>
                      </a:r>
                      <a:pPr algn="l" indent="0" marL="0">
                        <a:buNone/>
                      </a:pPr>
                      <a:r>
                        <a:rPr lang="en-US" sz="225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225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min_samples_leaf=30</a:t>
                      </a:r>
                      <a:pPr algn="l" indent="0" marL="0">
                        <a:buNone/>
                      </a:pPr>
                      <a:r>
                        <a:rPr lang="en-US" sz="225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225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class_weight=balanced</a:t>
                      </a:r>
                      <a:pPr algn="l" indent="0" marL="0">
                        <a:buNone/>
                      </a:pPr>
                      <a:r>
                        <a:rPr lang="en-US" sz="225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; ortalama doğrulama F1'i </a:t>
                      </a:r>
                      <a:pPr algn="l" indent="0" marL="0">
                        <a:buNone/>
                      </a:pPr>
                      <a:r>
                        <a:rPr lang="en-US" sz="225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0,3848</a:t>
                      </a:r>
                      <a:endParaRPr lang="en-US" sz="225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630177"/>
            <a:ext cx="11023324" cy="481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00" spc="-35" kern="100" dirty="0">
                <a:solidFill>
                  <a:srgbClr val="17324D"/>
                </a:solidFill>
                <a:latin typeface="Bree Serif" pitchFamily="34" charset="0"/>
                <a:ea typeface="Bree Serif" pitchFamily="34" charset="-122"/>
                <a:cs typeface="Bree Serif" pitchFamily="34" charset="-120"/>
              </a:rPr>
              <a:t>Recall yüksek, yanlış alarm maliyeti belirgin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584185" y="1260475"/>
            <a:ext cx="3572778" cy="144651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" dist="35560" dir="2700000">
              <a:srgbClr val="dce8f5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6582" y="1481527"/>
            <a:ext cx="3267985" cy="607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50" spc="-68" kern="100" dirty="0">
                <a:solidFill>
                  <a:srgbClr val="17324D"/>
                </a:solidFill>
                <a:latin typeface="Bree Serif" pitchFamily="34" charset="0"/>
                <a:ea typeface="Bree Serif" pitchFamily="34" charset="-122"/>
                <a:cs typeface="Bree Serif" pitchFamily="34" charset="-120"/>
              </a:rPr>
              <a:t>78,80%</a:t>
            </a:r>
            <a:endParaRPr lang="en-US" sz="4550" dirty="0"/>
          </a:p>
        </p:txBody>
      </p:sp>
      <p:sp>
        <p:nvSpPr>
          <p:cNvPr id="5" name="Text 3"/>
          <p:cNvSpPr/>
          <p:nvPr/>
        </p:nvSpPr>
        <p:spPr>
          <a:xfrm>
            <a:off x="736582" y="2221893"/>
            <a:ext cx="3420382" cy="33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243B53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recall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309359" y="1260475"/>
            <a:ext cx="3572877" cy="144651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" dist="35560" dir="2700000">
              <a:srgbClr val="dce8f5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61756" y="1481527"/>
            <a:ext cx="3268085" cy="607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50" spc="-68" kern="100" dirty="0">
                <a:solidFill>
                  <a:srgbClr val="17324D"/>
                </a:solidFill>
                <a:latin typeface="Bree Serif" pitchFamily="34" charset="0"/>
                <a:ea typeface="Bree Serif" pitchFamily="34" charset="-122"/>
                <a:cs typeface="Bree Serif" pitchFamily="34" charset="-120"/>
              </a:rPr>
              <a:t>24,31%</a:t>
            </a:r>
            <a:endParaRPr lang="en-US" sz="4550" dirty="0"/>
          </a:p>
        </p:txBody>
      </p:sp>
      <p:sp>
        <p:nvSpPr>
          <p:cNvPr id="8" name="Text 6"/>
          <p:cNvSpPr/>
          <p:nvPr/>
        </p:nvSpPr>
        <p:spPr>
          <a:xfrm>
            <a:off x="4461756" y="2221893"/>
            <a:ext cx="3420481" cy="33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243B53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precision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34633" y="1260475"/>
            <a:ext cx="3572877" cy="144651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" dist="35560" dir="2700000">
              <a:srgbClr val="dce8f5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7029" y="1481527"/>
            <a:ext cx="3268085" cy="607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50" spc="-68" kern="100" dirty="0">
                <a:solidFill>
                  <a:srgbClr val="17324D"/>
                </a:solidFill>
                <a:latin typeface="Bree Serif" pitchFamily="34" charset="0"/>
                <a:ea typeface="Bree Serif" pitchFamily="34" charset="-122"/>
                <a:cs typeface="Bree Serif" pitchFamily="34" charset="-120"/>
              </a:rPr>
              <a:t>0,3716</a:t>
            </a:r>
            <a:endParaRPr lang="en-US" sz="4550" dirty="0"/>
          </a:p>
        </p:txBody>
      </p:sp>
      <p:sp>
        <p:nvSpPr>
          <p:cNvPr id="11" name="Text 9"/>
          <p:cNvSpPr/>
          <p:nvPr/>
        </p:nvSpPr>
        <p:spPr>
          <a:xfrm>
            <a:off x="8187029" y="2221893"/>
            <a:ext cx="3420481" cy="33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243B53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F1</a:t>
            </a:r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243B5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 · Accuracy %58,30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84185" y="2882702"/>
            <a:ext cx="6522577" cy="382944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" dist="35560" dir="2700000">
              <a:srgbClr val="dce8f5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6582" y="3035102"/>
            <a:ext cx="6370180" cy="29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spc="116" kern="100" dirty="0">
                <a:solidFill>
                  <a:srgbClr val="243B53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KARIŞIKLIK MATRISI · TEST VERISI</a:t>
            </a:r>
            <a:endParaRPr lang="en-US" sz="1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582" y="3455988"/>
          <a:ext cx="6217784" cy="914400"/>
        </p:xfrm>
        <a:graphic>
          <a:graphicData uri="http://schemas.openxmlformats.org/drawingml/2006/table">
            <a:tbl>
              <a:tblPr/>
              <a:tblGrid>
                <a:gridCol w="2114001"/>
                <a:gridCol w="2051792"/>
                <a:gridCol w="2051991"/>
              </a:tblGrid>
              <a:tr h="8921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30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Gerçek / Tahmin</a:t>
                      </a:r>
                      <a:endParaRPr lang="en-US" sz="23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30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Satın alma yok</a:t>
                      </a:r>
                      <a:endParaRPr lang="en-US" sz="23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30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Satın alma var</a:t>
                      </a:r>
                      <a:endParaRPr lang="en-US" sz="23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21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300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Satın alma yok</a:t>
                      </a:r>
                      <a:endParaRPr lang="en-US" sz="23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30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1122</a:t>
                      </a:r>
                      <a:endParaRPr lang="en-US" sz="23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30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937</a:t>
                      </a:r>
                      <a:endParaRPr lang="en-US" sz="23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300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Satın alma var</a:t>
                      </a:r>
                      <a:endParaRPr lang="en-US" sz="23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30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81</a:t>
                      </a:r>
                      <a:endParaRPr lang="en-US" sz="23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300" b="1" dirty="0">
                          <a:solidFill>
                            <a:srgbClr val="243B53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301</a:t>
                      </a:r>
                      <a:endParaRPr lang="en-US" sz="23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736582" y="5937250"/>
            <a:ext cx="6370180" cy="426343"/>
          </a:xfrm>
          <a:prstGeom prst="rect">
            <a:avLst/>
          </a:prstGeom>
          <a:noFill/>
          <a:ln/>
        </p:spPr>
        <p:txBody>
          <a:bodyPr wrap="none" lIns="0" tIns="101598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dirty="0">
                <a:solidFill>
                  <a:srgbClr val="243B53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937 yanlış pozitif · 81 yanlış negatif</a:t>
            </a:r>
            <a:endParaRPr lang="en-US" sz="1950" dirty="0"/>
          </a:p>
        </p:txBody>
      </p:sp>
      <p:sp>
        <p:nvSpPr>
          <p:cNvPr id="16" name="Shape 13"/>
          <p:cNvSpPr/>
          <p:nvPr/>
        </p:nvSpPr>
        <p:spPr>
          <a:xfrm>
            <a:off x="7259059" y="2882702"/>
            <a:ext cx="4348451" cy="382944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" dist="35560" dir="2700000">
              <a:srgbClr val="dce8f5">
                <a:alpha val="10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259059" y="2882702"/>
            <a:ext cx="38099" cy="3829447"/>
          </a:xfrm>
          <a:prstGeom prst="rect">
            <a:avLst/>
          </a:prstGeom>
          <a:solidFill>
            <a:srgbClr val="1F5FAF"/>
          </a:solidFill>
          <a:ln/>
        </p:spPr>
      </p:sp>
      <p:sp>
        <p:nvSpPr>
          <p:cNvPr id="18" name="Text 15"/>
          <p:cNvSpPr/>
          <p:nvPr/>
        </p:nvSpPr>
        <p:spPr>
          <a:xfrm>
            <a:off x="7474954" y="3035102"/>
            <a:ext cx="4132556" cy="29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spc="116" kern="100" dirty="0">
                <a:solidFill>
                  <a:srgbClr val="1F5FAF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AÇIK ÇIKARIM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474954" y="3411030"/>
            <a:ext cx="3954760" cy="169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243B5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Model satın alma sınıfını yakalıyor; ancak 937 yanlış alarm sayısı yüksek ve düşük precision nedeniyle otomatik ticari kararlar için yeterince güvenilir değil.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7474954" y="5174059"/>
            <a:ext cx="4132556" cy="29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spc="116" kern="100" dirty="0">
                <a:solidFill>
                  <a:srgbClr val="5C6B7A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REFERANS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7474954" y="5549988"/>
            <a:ext cx="3954760" cy="1015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243B5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DummyClassifier accuracy %84,35; satın alma recall değeri 0.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636905"/>
            <a:ext cx="11023324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40" kern="100" dirty="0">
                <a:solidFill>
                  <a:srgbClr val="17324D"/>
                </a:solidFill>
                <a:latin typeface="Bree Serif" pitchFamily="34" charset="0"/>
                <a:ea typeface="Bree Serif" pitchFamily="34" charset="-122"/>
                <a:cs typeface="Bree Serif" pitchFamily="34" charset="-120"/>
              </a:rPr>
              <a:t>Mini uygulama hazır; sonraki sürüm henüz plan aşamasında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84185" y="1935361"/>
            <a:ext cx="11023324" cy="433843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" dist="35560" dir="2700000">
              <a:srgbClr val="dce8f5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12780" y="2036961"/>
            <a:ext cx="10566136" cy="411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243B53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Mini uygulama: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243B5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 </a:t>
            </a:r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243B53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tahmin_et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243B5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 16 girdiyi alıyor; eksik/fazla sütun, sayısal geçerlilik, oran, kategori ve bazı sayfa-süre tutarlılıklarını kontrol ediyor.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243B53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Çalışan örnek: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243B5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 20 ürün sayfası, 600 saniye, BounceRates=0,01, ExitRates=0,03 ve rapordaki diğer girdilerle “Satın alma ile sonuçlanır” çıktısı üretildi; gerçek hedef bilinmiyor.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243B53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Sınırlılık: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243B5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 Oturum özetleri canlı ziyaret sırasındaki başarıyı kanıtlamaz; rastgele bölme gelecekteki aylara genellemeyi garanti etmez.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243B53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Sonraki sürüm planı: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243B5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 Lojistik regresyon ve Random Forest karşılaştırması, eğitim içi eşik seçimi ve yeni zaman döneminde bağımsız değerlendirme yapılması planlanıyor; bunlar v1.0.0 kapsamında tamamlanmış işler değildir.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2026-10-15T15:33:07Z</dcterms:created>
  <dcterms:modified xsi:type="dcterms:W3CDTF">2026-10-15T15:33:07Z</dcterms:modified>
</cp:coreProperties>
</file>